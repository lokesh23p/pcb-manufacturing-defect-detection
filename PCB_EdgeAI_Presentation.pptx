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3.jpg" ContentType="image/jp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52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75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8295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048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75694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5850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165" y="3908295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8295"/>
            <a:ext cx="1584198" cy="17145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5185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308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7315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32043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3412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8308"/>
            <a:ext cx="6398514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4667252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451358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475412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7595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6507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56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740" y="4730754"/>
            <a:ext cx="205740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730754"/>
            <a:ext cx="390906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4730754"/>
            <a:ext cx="109728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740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2736A"/>
          </a:solidFill>
          <a:ln w="12700">
            <a:solidFill>
              <a:srgbClr val="1273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2004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20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CP 330 · EDGE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6858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-1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Manufacturing Defect Detection</a:t>
            </a:r>
            <a:endParaRPr lang="en-US" sz="52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Edge AI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[Potturi Lakshmi Sri Sai Lokesh]  ·  [Kalaiyarasan V]  ·  Rohith V  ·  Naman Thakur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0" y="4572000"/>
            <a:ext cx="128016" cy="12801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4572000"/>
            <a:ext cx="128016" cy="12801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4572000"/>
            <a:ext cx="128016" cy="12801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4572000"/>
            <a:ext cx="128016" cy="12801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4572000"/>
            <a:ext cx="128016" cy="12801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 PCB Inspection?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6517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misses ~15% of defects due to fatigue and subjectivity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71600"/>
            <a:ext cx="2651760" cy="10972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Throughput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210312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QA bottlenecks production lines; automated systems run 24/7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37160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371600"/>
            <a:ext cx="2651760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210312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Late-stage defect detection costs 10× more to fix than early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1B998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 real-time Edge AI pipeline — compact model + quantization + hardware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</a:rPr>
              <a:t>End-to-End Edge AI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261872" cy="1188720"/>
          </a:xfrm>
          <a:prstGeom prst="rect">
            <a:avLst/>
          </a:prstGeom>
          <a:solidFill>
            <a:srgbClr val="F4F9F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508760"/>
            <a:ext cx="402336" cy="40233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PCB 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25856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Images + XML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Annotations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45336" y="2011680"/>
            <a:ext cx="155448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0784" y="1417320"/>
            <a:ext cx="1261872" cy="1188720"/>
          </a:xfrm>
          <a:prstGeom prst="rect">
            <a:avLst/>
          </a:prstGeom>
          <a:solidFill>
            <a:srgbClr val="F4F9F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30552" y="1508760"/>
            <a:ext cx="402336" cy="40233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055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46504" y="19659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46504" y="225856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YOLO Labels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70/20/10 Split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71800" y="2011680"/>
            <a:ext cx="155448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27248" y="1417320"/>
            <a:ext cx="1261872" cy="1188720"/>
          </a:xfrm>
          <a:prstGeom prst="rect">
            <a:avLst/>
          </a:prstGeom>
          <a:solidFill>
            <a:srgbClr val="F4F9F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57016" y="1508760"/>
            <a:ext cx="402336" cy="40233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57016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19659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Model Training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72968" y="225856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YOLOv8S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70 epochs @1024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98264" y="2011680"/>
            <a:ext cx="155448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53712" y="1417320"/>
            <a:ext cx="1261872" cy="1188720"/>
          </a:xfrm>
          <a:prstGeom prst="rect">
            <a:avLst/>
          </a:prstGeom>
          <a:solidFill>
            <a:srgbClr val="F4F9F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83480" y="1508760"/>
            <a:ext cx="402336" cy="40233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99432" y="19659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Optimization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99432" y="225856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Pruning 30%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+ Quantization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24728" y="2011680"/>
            <a:ext cx="155448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0176" y="1417320"/>
            <a:ext cx="1261872" cy="1188720"/>
          </a:xfrm>
          <a:prstGeom prst="rect">
            <a:avLst/>
          </a:prstGeom>
          <a:solidFill>
            <a:srgbClr val="F4F9F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9944" y="1508760"/>
            <a:ext cx="402336" cy="40233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9944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25896" y="19659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Export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25896" y="225856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TFLite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OpenVINO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51192" y="2011680"/>
            <a:ext cx="155448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06640" y="1417320"/>
            <a:ext cx="1261872" cy="1188720"/>
          </a:xfrm>
          <a:prstGeom prst="rect">
            <a:avLst/>
          </a:prstGeom>
          <a:solidFill>
            <a:srgbClr val="1B998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836408" y="1508760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36408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452360" y="19659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52360" y="225856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DE9"/>
                </a:solidFill>
              </a:rPr>
              <a:t>ESP32 Conveyor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EDE9"/>
                </a:solidFill>
              </a:rPr>
              <a:t>+ IP Webcam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 Defect Classes Detected: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3246120"/>
            <a:ext cx="2560320" cy="301752"/>
          </a:xfrm>
          <a:prstGeom prst="roundRect">
            <a:avLst>
              <a:gd name="adj" fmla="val 18182"/>
            </a:avLst>
          </a:prstGeom>
          <a:solidFill>
            <a:srgbClr val="1B998B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" y="324612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missing hole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154680" y="3246120"/>
            <a:ext cx="2560320" cy="301752"/>
          </a:xfrm>
          <a:prstGeom prst="roundRect">
            <a:avLst>
              <a:gd name="adj" fmla="val 18182"/>
            </a:avLst>
          </a:pr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3154680" y="324612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mouse bite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89320" y="3246120"/>
            <a:ext cx="2560320" cy="301752"/>
          </a:xfrm>
          <a:prstGeom prst="roundRect">
            <a:avLst>
              <a:gd name="adj" fmla="val 18182"/>
            </a:avLst>
          </a:prstGeom>
          <a:solidFill>
            <a:srgbClr val="6C63FF"/>
          </a:solidFill>
          <a:ln/>
        </p:spPr>
      </p:sp>
      <p:sp>
        <p:nvSpPr>
          <p:cNvPr id="46" name="Text 44"/>
          <p:cNvSpPr/>
          <p:nvPr/>
        </p:nvSpPr>
        <p:spPr>
          <a:xfrm>
            <a:off x="5989320" y="324612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 circuit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" y="3657600"/>
            <a:ext cx="2560320" cy="301752"/>
          </a:xfrm>
          <a:prstGeom prst="roundRect">
            <a:avLst>
              <a:gd name="adj" fmla="val 18182"/>
            </a:avLst>
          </a:prstGeom>
          <a:solidFill>
            <a:srgbClr val="E85D04"/>
          </a:solidFill>
          <a:ln/>
        </p:spPr>
      </p:sp>
      <p:sp>
        <p:nvSpPr>
          <p:cNvPr id="48" name="Text 46"/>
          <p:cNvSpPr/>
          <p:nvPr/>
        </p:nvSpPr>
        <p:spPr>
          <a:xfrm>
            <a:off x="320040" y="36576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short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172968" y="3657600"/>
            <a:ext cx="2560320" cy="301752"/>
          </a:xfrm>
          <a:prstGeom prst="roundRect">
            <a:avLst>
              <a:gd name="adj" fmla="val 18182"/>
            </a:avLst>
          </a:prstGeom>
          <a:solidFill>
            <a:srgbClr val="06D6A0"/>
          </a:solidFill>
          <a:ln/>
        </p:spPr>
      </p:sp>
      <p:sp>
        <p:nvSpPr>
          <p:cNvPr id="52" name="Text 50"/>
          <p:cNvSpPr/>
          <p:nvPr/>
        </p:nvSpPr>
        <p:spPr>
          <a:xfrm>
            <a:off x="3154680" y="36576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spurious copper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Dataset: DeepPCB — Pascal VOC XML → YOLO format conversion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</a:rPr>
              <a:t>Dataset Preparation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Dataset Statistics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3840480" cy="347472"/>
          </a:xfrm>
          <a:prstGeom prst="rect">
            <a:avLst/>
          </a:prstGeom>
          <a:solidFill>
            <a:srgbClr val="F4F9F8"/>
          </a:solidFill>
          <a:ln w="12700">
            <a:solidFill>
              <a:srgbClr val="F4F9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Source: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1828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DeepPCB (Publicly Available)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Annotation: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22128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Pascal VOC XML → YOLO TXT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96896"/>
            <a:ext cx="3840480" cy="347472"/>
          </a:xfrm>
          <a:prstGeom prst="rect">
            <a:avLst/>
          </a:prstGeom>
          <a:solidFill>
            <a:srgbClr val="F4F9F8"/>
          </a:solidFill>
          <a:ln w="12700">
            <a:solidFill>
              <a:srgbClr val="F4F9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968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Train Split: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25968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70%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98094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Val Split: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65960" y="298094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20%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364992"/>
            <a:ext cx="3840480" cy="347472"/>
          </a:xfrm>
          <a:prstGeom prst="rect">
            <a:avLst/>
          </a:prstGeom>
          <a:solidFill>
            <a:srgbClr val="F4F9F8"/>
          </a:solidFill>
          <a:ln w="12700">
            <a:solidFill>
              <a:srgbClr val="F4F9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649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Test Split: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65960" y="33649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749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Random Seed: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65960" y="3749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42 (reproducible)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133088"/>
            <a:ext cx="3840480" cy="347472"/>
          </a:xfrm>
          <a:prstGeom prst="rect">
            <a:avLst/>
          </a:prstGeom>
          <a:solidFill>
            <a:srgbClr val="F4F9F8"/>
          </a:solidFill>
          <a:ln w="12700">
            <a:solidFill>
              <a:srgbClr val="F4F9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330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Input Resolution: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65960" y="41330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1024 × 1024 px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1234440"/>
            <a:ext cx="42976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Data Augmentation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17720" y="1828800"/>
            <a:ext cx="4114800" cy="347472"/>
          </a:xfrm>
          <a:prstGeom prst="rect">
            <a:avLst/>
          </a:prstGeom>
          <a:solidFill>
            <a:srgbClr val="F4F9F8"/>
          </a:solidFill>
          <a:ln w="12700">
            <a:solidFill>
              <a:srgbClr val="F4F9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828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HSV Jitter: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0760" y="1828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H=0.015  S=0.7  V=0.4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22128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Rotation: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80760" y="2212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±10°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2596896"/>
            <a:ext cx="4114800" cy="347472"/>
          </a:xfrm>
          <a:prstGeom prst="rect">
            <a:avLst/>
          </a:prstGeom>
          <a:solidFill>
            <a:srgbClr val="F4F9F8"/>
          </a:solidFill>
          <a:ln w="12700">
            <a:solidFill>
              <a:srgbClr val="F4F9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5968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Translation: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25968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0.1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29809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Scale: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80760" y="29809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0.5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7720" y="3364992"/>
            <a:ext cx="4114800" cy="347472"/>
          </a:xfrm>
          <a:prstGeom prst="rect">
            <a:avLst/>
          </a:prstGeom>
          <a:solidFill>
            <a:srgbClr val="F4F9F8"/>
          </a:solidFill>
          <a:ln w="12700">
            <a:solidFill>
              <a:srgbClr val="F4F9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364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Flip (H/V):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80760" y="33649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50% probability each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09160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Mosaic: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80760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Enabled (1.0)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17720" y="4133088"/>
            <a:ext cx="4114800" cy="347472"/>
          </a:xfrm>
          <a:prstGeom prst="rect">
            <a:avLst/>
          </a:prstGeom>
          <a:solidFill>
            <a:srgbClr val="F4F9F8"/>
          </a:solidFill>
          <a:ln w="12700">
            <a:solidFill>
              <a:srgbClr val="F4F9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1330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MixUp: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80760" y="4133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0.2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6B35"/>
                </a:solidFill>
              </a:rPr>
              <a:t>📷 [Insert: Sample PCB image with annotated bounding boxes]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</a:rPr>
              <a:t>YOLOv8S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463040" cy="1005840"/>
          </a:xfrm>
          <a:prstGeom prst="rect">
            <a:avLst/>
          </a:prstGeom>
          <a:solidFill>
            <a:srgbClr val="C8EDE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258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1024×1024×3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1828800"/>
            <a:ext cx="27432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325880"/>
            <a:ext cx="1463040" cy="1005840"/>
          </a:xfrm>
          <a:prstGeom prst="rect">
            <a:avLst/>
          </a:prstGeom>
          <a:solidFill>
            <a:srgbClr val="1B998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3258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CSPDarknet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Backbone (C2f)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27432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325880"/>
            <a:ext cx="1463040" cy="1005840"/>
          </a:xfrm>
          <a:prstGeom prst="rect">
            <a:avLst/>
          </a:prstGeom>
          <a:solidFill>
            <a:srgbClr val="12736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3258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PAN-FPN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1828800"/>
            <a:ext cx="27432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1325880"/>
            <a:ext cx="1463040" cy="10058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13258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Decoupled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Head ×3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1828800"/>
            <a:ext cx="27432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325880"/>
            <a:ext cx="1463040" cy="1005840"/>
          </a:xfrm>
          <a:prstGeom prst="rect">
            <a:avLst/>
          </a:prstGeom>
          <a:solidFill>
            <a:srgbClr val="FF6B3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3258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5-Class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606040"/>
            <a:ext cx="2011680" cy="1371600"/>
          </a:xfrm>
          <a:prstGeom prst="rect">
            <a:avLst/>
          </a:prstGeom>
          <a:solidFill>
            <a:srgbClr val="F4F9F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998B"/>
                </a:solidFill>
              </a:rPr>
              <a:t>~11M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2004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Parameters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3639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YOLOv8S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96312" y="2606040"/>
            <a:ext cx="2011680" cy="1371600"/>
          </a:xfrm>
          <a:prstGeom prst="rect">
            <a:avLst/>
          </a:prstGeom>
          <a:solidFill>
            <a:srgbClr val="F4F9F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96312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998B"/>
                </a:solidFill>
              </a:rPr>
              <a:t>1024²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2496312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Input Size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96312" y="3639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vs 800² baseline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72584" y="2606040"/>
            <a:ext cx="2011680" cy="1371600"/>
          </a:xfrm>
          <a:prstGeom prst="rect">
            <a:avLst/>
          </a:prstGeom>
          <a:solidFill>
            <a:srgbClr val="F4F9F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72584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998B"/>
                </a:solidFill>
              </a:rPr>
              <a:t>32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672584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Stride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72584" y="3639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max feature map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48856" y="2606040"/>
            <a:ext cx="2011680" cy="1371600"/>
          </a:xfrm>
          <a:prstGeom prst="rect">
            <a:avLst/>
          </a:prstGeom>
          <a:solidFill>
            <a:srgbClr val="F4F9F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48856" y="26517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998B"/>
                </a:solidFill>
              </a:rPr>
              <a:t>70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848856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Epochs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48856" y="3639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final training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Baseline: YOLOv8n (50 epochs, 800px)  →  Final: YOLOv8S (70 epochs, 1024px) — Higher resolution critical for small PCB defects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OPTIMIZATION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</a:rPr>
              <a:t>Model Optimization Techniques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91440" cy="25603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</a:rPr>
              <a:t>✂  Pruning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Unstructured
</a:t>
            </a: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Conv2d layers
</a:t>
            </a: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Sparsity: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
</a:t>
            </a: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torch.nn.utils.prune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417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1B998B"/>
                </a:solidFill>
              </a:rPr>
              <a:t>30%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56032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Conv sparsity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42976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280160"/>
            <a:ext cx="91440" cy="25603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828800"/>
            <a:ext cx="3931920" cy="384048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86537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</a:rPr>
              <a:t>Format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186537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Size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0920" y="186537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Speed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3042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float32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23042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~41 MB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60920" y="23042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Baseline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7432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float16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27432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~22 MB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60920" y="27432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1.5× faster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31821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OpenVINO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31821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~44 MB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60920" y="31821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Intel HW accel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493008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1B998B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474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50% size reduction (FP16)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114800"/>
            <a:ext cx="8503920" cy="50292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Key Edge AI concept applied: Post-Training Quantization (PTQ) — no retraining required, compatible with Ultralytics export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HARDWARE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</a:rPr>
              <a:t>Physical Conveyor System</a:t>
            </a:r>
            <a:endParaRPr lang="en-US" sz="2800" dirty="0"/>
          </a:p>
        </p:txBody>
      </p:sp>
      <p:pic>
        <p:nvPicPr>
          <p:cNvPr id="5" name="Image 0" descr="/home/claude/conveyo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234440"/>
            <a:ext cx="41148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1371600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37760" y="1280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Motor: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7220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12V DC Johnson Geared Motor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847088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17556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Driver: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72200" y="17556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L298N H-Bridge IC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2322576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223113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Controller: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72200" y="22311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ESP32 Dev Module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2798064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270662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Speed Ctrl: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72200" y="27066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12V rotary potentiometer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3273552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318211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Power: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72200" y="31821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12V DC adapter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3749040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37760" y="3657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Camera: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172200" y="3657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IP Webcam (mobile) over Wi-Fi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26280" y="4297680"/>
            <a:ext cx="4297680" cy="685800"/>
          </a:xfrm>
          <a:prstGeom prst="rect">
            <a:avLst/>
          </a:prstGeom>
          <a:solidFill>
            <a:srgbClr val="C8EDE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617720" y="43251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ESP32 runs conveyor for 2 sec per trigger → PCB moves to inspection point → Camera captures frame → AI inference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/>
              <a:t>Inference Pipeline — run.py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" y="1783080"/>
            <a:ext cx="0" cy="201168"/>
          </a:xfrm>
          <a:prstGeom prst="line">
            <a:avLst/>
          </a:prstGeom>
          <a:noFill/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>
                    <a:lumMod val="75000"/>
                  </a:schemeClr>
                </a:solidFill>
              </a:rPr>
              <a:t>Load Model</a:t>
            </a:r>
            <a:endParaRPr lang="en-US" sz="13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926080" y="1325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BFBA"/>
                </a:solidFill>
              </a:rPr>
              <a:t>YOLO('best_float32.tflite')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48256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" y="2441448"/>
            <a:ext cx="0" cy="201168"/>
          </a:xfrm>
          <a:prstGeom prst="line">
            <a:avLst/>
          </a:prstGeom>
          <a:noFill/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9842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>
                    <a:lumMod val="75000"/>
                  </a:schemeClr>
                </a:solidFill>
              </a:rPr>
              <a:t>Capture Frame</a:t>
            </a:r>
            <a:endParaRPr lang="en-US" sz="13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26080" y="19842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BFBA"/>
                </a:solidFill>
              </a:rPr>
              <a:t>HTTP GET → IP Webcam URL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706624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" y="3099816"/>
            <a:ext cx="0" cy="201168"/>
          </a:xfrm>
          <a:prstGeom prst="line">
            <a:avLst/>
          </a:prstGeom>
          <a:noFill/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6426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>
                    <a:lumMod val="75000"/>
                  </a:schemeClr>
                </a:solidFill>
              </a:rPr>
              <a:t>Run Inference</a:t>
            </a:r>
            <a:endParaRPr lang="en-US" sz="13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2926080" y="264261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BFBA"/>
                </a:solidFill>
              </a:rPr>
              <a:t>conf=0.4, verbose=False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364992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" y="3758184"/>
            <a:ext cx="0" cy="201168"/>
          </a:xfrm>
          <a:prstGeom prst="line">
            <a:avLst/>
          </a:prstGeom>
          <a:noFill/>
          <a:ln w="12700">
            <a:solidFill>
              <a:srgbClr val="1B99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30098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>
                    <a:lumMod val="75000"/>
                  </a:schemeClr>
                </a:solidFill>
              </a:rPr>
              <a:t>Process Results</a:t>
            </a:r>
            <a:endParaRPr lang="en-US" sz="13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2926080" y="330098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BFBA"/>
                </a:solidFill>
              </a:rPr>
              <a:t>Draw boxes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023360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39593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>
                    <a:lumMod val="75000"/>
                  </a:schemeClr>
                </a:solidFill>
              </a:rPr>
              <a:t>Display &amp; Wait</a:t>
            </a:r>
            <a:endParaRPr lang="en-US" sz="13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2926080" y="39593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BFBA"/>
                </a:solidFill>
              </a:rPr>
              <a:t>Show in notebook, wait 5s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0" y="1234440"/>
            <a:ext cx="3291840" cy="2560320"/>
          </a:xfrm>
          <a:prstGeom prst="rect">
            <a:avLst/>
          </a:prstGeom>
          <a:solidFill>
            <a:srgbClr val="1A2B3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77840" y="12984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Sample Output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16916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Inspection Time: 1:02:01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DEFECTS FOUND: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 5 seconds for next PCB...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28346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6B35"/>
                </a:solidFill>
              </a:rPr>
              <a:t>📷 [Insert detection output screenshot]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</a:rPr>
              <a:t>Deployed Models: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03120" y="45720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FBA"/>
                </a:solidFill>
              </a:rPr>
              <a:t>best_float32.tflite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3A23FE6-DEAF-A1DE-6452-CB81BCED0B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61" t="24583" r="46294" b="30991"/>
          <a:stretch>
            <a:fillRect/>
          </a:stretch>
        </p:blipFill>
        <p:spPr>
          <a:xfrm>
            <a:off x="5945709" y="2571750"/>
            <a:ext cx="2391508" cy="23968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</a:rPr>
              <a:t>Experimental 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98B"/>
                </a:solidFill>
              </a:rPr>
              <a:t>Model Comparison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08760"/>
          <a:ext cx="4114800" cy="1752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Epochs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YOLOv8n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800×800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YOLOv8S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1024×1024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Final — higher mAP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YOLOv8S + Pruning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1024×1024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30% sparse, ≈ same mAP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108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98B"/>
                </a:solidFill>
              </a:rPr>
              <a:t>Quantization Trade-offs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972319"/>
              </p:ext>
            </p:extLst>
          </p:nvPr>
        </p:nvGraphicFramePr>
        <p:xfrm>
          <a:off x="320040" y="3429000"/>
          <a:ext cx="4114800" cy="14554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Speed Gain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float32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~41 MB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float16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~22 MB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~1.5×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Negligible drop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OpenVINO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~44 MB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7EDF2F9-C9BE-CCBF-152C-603AC6ABE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358781"/>
            <a:ext cx="3886200" cy="19799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E1CA3E-DF50-1948-2B58-025504528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012" y="2361964"/>
            <a:ext cx="3337416" cy="25239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/>
              <a:t>Conclusions &amp; 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✅  Key Achievements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>
                    <a:lumMod val="75000"/>
                  </a:schemeClr>
                </a:solidFill>
              </a:rPr>
              <a:t>YOLOv8S at 1024×1024 outperforms YOLOv8n baseline for fine-grained PCB defect detection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>
                    <a:lumMod val="75000"/>
                  </a:schemeClr>
                </a:solidFill>
              </a:rPr>
              <a:t>30% L1 pruning maintained accuracy while reducing computational footprint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" y="2948940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75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>
                    <a:lumMod val="75000"/>
                  </a:schemeClr>
                </a:solidFill>
              </a:rPr>
              <a:t>OpenVINO export enables hardware-accelerated inference on Intel edge platforms</a:t>
            </a:r>
          </a:p>
        </p:txBody>
      </p:sp>
      <p:sp>
        <p:nvSpPr>
          <p:cNvPr id="14" name="Shape 12"/>
          <p:cNvSpPr/>
          <p:nvPr/>
        </p:nvSpPr>
        <p:spPr>
          <a:xfrm>
            <a:off x="320040" y="3497580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061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>
                    <a:lumMod val="75000"/>
                  </a:schemeClr>
                </a:solidFill>
              </a:rPr>
              <a:t>Physical ESP32 + L298N conveyor system successfully simulated industrial PCB inspection</a:t>
            </a:r>
          </a:p>
        </p:txBody>
      </p:sp>
      <p:sp>
        <p:nvSpPr>
          <p:cNvPr id="16" name="Text 14"/>
          <p:cNvSpPr/>
          <p:nvPr/>
        </p:nvSpPr>
        <p:spPr>
          <a:xfrm>
            <a:off x="5029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🚀  Future Work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1691640"/>
            <a:ext cx="3657600" cy="64008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78308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98B"/>
                </a:solidFill>
              </a:rPr>
              <a:t>QAT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FBA"/>
                </a:solidFill>
              </a:rPr>
              <a:t>Quantization Aware Training for better INT8 accuracy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423160"/>
            <a:ext cx="3657600" cy="64008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51460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98B"/>
                </a:solidFill>
              </a:rPr>
              <a:t>KD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FBA"/>
                </a:solidFill>
              </a:rPr>
              <a:t>Knowledge Distillation from YOLOv8L → YOLOv8n / YOLOv8s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3154680"/>
            <a:ext cx="3657600" cy="64008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324612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98B"/>
                </a:solidFill>
              </a:rPr>
              <a:t>NAS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FBA"/>
                </a:solidFill>
              </a:rPr>
              <a:t>Neural Architecture Search for PCB-specific backbone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3886200"/>
            <a:ext cx="3657600" cy="64008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977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98B"/>
                </a:solidFill>
              </a:rPr>
              <a:t>Deploy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FBA"/>
                </a:solidFill>
              </a:rPr>
              <a:t>RPi / Intel NCS2 fully embedded inference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27"/>
          <p:cNvSpPr/>
          <p:nvPr/>
        </p:nvSpPr>
        <p:spPr>
          <a:xfrm>
            <a:off x="1109589" y="1362798"/>
            <a:ext cx="6924821" cy="1733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B998B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1464797" y="3869490"/>
            <a:ext cx="6214404" cy="6708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6A9A95"/>
                </a:solidFill>
              </a:rPr>
              <a:t>GitHub: https://github.com/lokesh23p/PCB-Manufacturing-defect-detection/tree/main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1991361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74</TotalTime>
  <Words>736</Words>
  <Application>Microsoft Office PowerPoint</Application>
  <PresentationFormat>On-screen Show (16:9)</PresentationFormat>
  <Paragraphs>227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Century Gothic</vt:lpstr>
      <vt:lpstr>Consolas</vt:lpstr>
      <vt:lpstr>Garamond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PCB Defect Detection – Edge AI</dc:title>
  <dc:subject>PptxGenJS Presentation</dc:subject>
  <dc:creator>PptxGenJS</dc:creator>
  <cp:lastModifiedBy>Lokesh Sai</cp:lastModifiedBy>
  <cp:revision>3</cp:revision>
  <dcterms:created xsi:type="dcterms:W3CDTF">2026-05-02T13:51:19Z</dcterms:created>
  <dcterms:modified xsi:type="dcterms:W3CDTF">2026-05-02T17:28:59Z</dcterms:modified>
</cp:coreProperties>
</file>